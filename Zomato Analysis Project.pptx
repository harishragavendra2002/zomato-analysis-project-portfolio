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98" autoAdjust="0"/>
    <p:restoredTop sz="94660"/>
  </p:normalViewPr>
  <p:slideViewPr>
    <p:cSldViewPr snapToGrid="0">
      <p:cViewPr varScale="1">
        <p:scale>
          <a:sx n="69" d="100"/>
          <a:sy n="69" d="100"/>
        </p:scale>
        <p:origin x="6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4B57B-1E91-4B18-93F2-77FA485E1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92AF-0C7A-4EF1-BF64-5E551FF777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231DF-DB20-4FF3-8423-A5B1711C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93061-89BC-44CF-A46D-21328EDB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1EE8-BBA3-477A-99E4-A1FD6B4DD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22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41E2-034A-41A9-B5C1-A6712E97A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9C24E-F5DE-477F-93B8-62203484F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37DF1-8C8D-4F14-874C-A05B78038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2D254-57FF-4280-AA8C-DE2E3282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406F6-6212-4CB7-9003-BDE918B2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95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AF92-2711-4C0E-AFE4-A6CE80E99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E927CA-0458-40B1-872D-B8AFFC1AE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587F9-643E-4F17-BA30-3FFD441AA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2A19F-5DFE-4DDF-A06A-E6C8F41E3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CF39B-0841-400D-849C-8A543B29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47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D5C4-3F21-42AE-BA78-73DA4188F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0833E-00E1-461D-8D4D-F2F767DDF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920BE-DE9C-43A9-A1E5-C44204F7F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F062F-83EE-4069-BD53-2ADBB61D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69614-C232-46BC-9D17-E2E200D4F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C37E7-A29D-45D7-B63E-157DDE46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1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D3376-183E-40AE-B4FD-B05E764D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0F824-1C1E-4D11-AF19-F397412E3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17FF2-66AD-4925-8AB1-AD924DFF8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7AB8E-CED7-4313-B701-C5C428E97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3C612-255E-4090-ABD5-396E9353B0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AFB2F-C019-45B7-BFA7-F9008CF4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D8193C-394B-4E20-9611-98B5BB41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86ADE3-428D-42D0-9549-C843E176F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95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4CEA-AA1C-45E7-8EDA-04B873389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1C851-4E55-4205-B6F7-6381D4B50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27B41-291B-4E79-90F8-C7E7191C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E4179-C820-4BF7-979B-7A8248F3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03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298C2-619D-4DA8-9F72-44393AFE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0EC9C-FFEB-4DCD-A839-72A455FF4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4B448-9701-455F-A113-39BDFE04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2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3CC1F-0D7E-4100-9036-091A51C93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9DB34-4B38-4306-B580-AED9E0BF7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30D9C-AC9A-4593-BC8D-FEAC5DEC7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7B589-0A34-4CC3-B1BB-E863D905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95BCA-655C-40AB-91E1-91D2B5FD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2CB4E-FE18-459D-A316-5420BC93A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76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F5EE-825F-4F26-B210-2C958EC6F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395A7-7027-4839-9F50-76D05A45A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D2B58-EB3F-4493-88AC-B9A1935C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BA8D3-2D01-49A1-B252-CF701DE07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9DEB2-8FC4-4AFC-9875-EC659B85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77E1D-E5F7-474F-8526-31C15F61B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703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B5643-6792-4626-A541-67E611BA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69A0C-D1A7-4FBF-92E3-30789FACD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64167-9757-4971-88BC-9F22A65F1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CB6BD-36D5-40C7-901E-E62DFB46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609E1-F89A-4AA8-9BE6-7645CB96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5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3F4646-8A73-4F6F-A9DF-EA139465B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9EC94-FB7C-4999-9720-90E2349C4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8B72A-A777-4539-9C9E-F50087EE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7AA73-8E4C-4B50-819B-F5A973C2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339B4-4751-4C51-A01E-9DF63145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41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DD2D31-BFDE-4D85-B8DB-009EB887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B5DAB-0AE8-438B-B6DD-46072FFA51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3B298-68F1-40AD-BE48-A3F41B6480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D3F9B-0AE0-4A65-8A73-7D309CD10961}" type="datetimeFigureOut">
              <a:rPr lang="en-US" smtClean="0"/>
              <a:t>02-May-25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42DDF-D06F-4628-8CD2-B66FA23C7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BDDCE-D929-40E1-9009-DF621651C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7B04F-23D9-4C85-B28B-CC3A109C1C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2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0CD3F3-4AE0-4C7C-9828-C409820F30B4}"/>
              </a:ext>
            </a:extLst>
          </p:cNvPr>
          <p:cNvSpPr txBox="1"/>
          <p:nvPr/>
        </p:nvSpPr>
        <p:spPr>
          <a:xfrm>
            <a:off x="4151243" y="1140009"/>
            <a:ext cx="5314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spc="600" dirty="0">
                <a:solidFill>
                  <a:srgbClr val="FF6600"/>
                </a:solidFill>
                <a:latin typeface="Algerian" panose="04020705040A02060702" pitchFamily="82" charset="0"/>
              </a:rPr>
              <a:t>Zomato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36DD0-9C7F-47E9-A4ED-100EEDF5436C}"/>
              </a:ext>
            </a:extLst>
          </p:cNvPr>
          <p:cNvSpPr txBox="1"/>
          <p:nvPr/>
        </p:nvSpPr>
        <p:spPr>
          <a:xfrm>
            <a:off x="5152649" y="2822986"/>
            <a:ext cx="43599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6600"/>
                </a:solidFill>
                <a:latin typeface="Century" panose="02040604050505020304" pitchFamily="18" charset="0"/>
              </a:rPr>
              <a:t>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AF30A-31C4-4AB9-825B-1815A5AE9878}"/>
              </a:ext>
            </a:extLst>
          </p:cNvPr>
          <p:cNvSpPr txBox="1"/>
          <p:nvPr/>
        </p:nvSpPr>
        <p:spPr>
          <a:xfrm>
            <a:off x="6096000" y="4161195"/>
            <a:ext cx="3995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S UI Gothic" panose="020B0600070205080204" pitchFamily="34" charset="-128"/>
                <a:ea typeface="MS UI Gothic" panose="020B0600070205080204" pitchFamily="34" charset="-128"/>
              </a:rPr>
              <a:t>B Harish </a:t>
            </a:r>
            <a:r>
              <a:rPr lang="en-US" sz="2800" dirty="0" err="1">
                <a:latin typeface="MS UI Gothic" panose="020B0600070205080204" pitchFamily="34" charset="-128"/>
                <a:ea typeface="MS UI Gothic" panose="020B0600070205080204" pitchFamily="34" charset="-128"/>
              </a:rPr>
              <a:t>Ragavendra</a:t>
            </a:r>
            <a:endParaRPr lang="en-US" sz="28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E90074-B7F4-4969-B121-A00B0C282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8722" y="2173357"/>
            <a:ext cx="5068092" cy="50680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9BC290-94D4-4F33-B321-4CE53961E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084" y="1534466"/>
            <a:ext cx="1169129" cy="65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5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DE6D314-D532-4533-9C0E-285FDCC07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103" y="1723841"/>
            <a:ext cx="7238648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</a:rPr>
              <a:t>Restaurant Listings &amp; Reviews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Zomato helps users find restaurants, view menus, and read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66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</a:rPr>
              <a:t>Online Food Delivery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Zomato delivers food by connecting customers with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restaurants and delivery partners.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</a:rPr>
              <a:t>Earning from Restaurants &amp; Ads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6600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Zomato makes money by charging restaurants for ads,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delivery commissions, and software tools.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0236B-8243-4BC2-99FC-E2267E5A8044}"/>
              </a:ext>
            </a:extLst>
          </p:cNvPr>
          <p:cNvSpPr txBox="1"/>
          <p:nvPr/>
        </p:nvSpPr>
        <p:spPr>
          <a:xfrm flipH="1">
            <a:off x="3082619" y="671399"/>
            <a:ext cx="60267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6600"/>
                </a:solidFill>
                <a:latin typeface="Century" panose="02040604050505020304" pitchFamily="18" charset="0"/>
              </a:rPr>
              <a:t>Zomato Business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228F33-880F-4091-861E-69298191962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3"/>
          <a:stretch/>
        </p:blipFill>
        <p:spPr>
          <a:xfrm>
            <a:off x="6955115" y="2358887"/>
            <a:ext cx="5236885" cy="430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41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29F0D5-8BA4-4831-8784-E19E82B4312B}"/>
              </a:ext>
            </a:extLst>
          </p:cNvPr>
          <p:cNvSpPr txBox="1"/>
          <p:nvPr/>
        </p:nvSpPr>
        <p:spPr>
          <a:xfrm>
            <a:off x="980660" y="1166842"/>
            <a:ext cx="936928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2000" b="1" dirty="0"/>
              <a:t>Descriptive Analysis</a:t>
            </a:r>
            <a:br>
              <a:rPr lang="en-US" sz="2000" dirty="0"/>
            </a:br>
            <a:r>
              <a:rPr lang="en-US" sz="2000" dirty="0"/>
              <a:t>Understanding basic features and distributions in the data: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Distribution of Average Cost for Two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Distribution of Restaurant Ratings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Online Order Availability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Table Booking Availability</a:t>
            </a:r>
          </a:p>
          <a:p>
            <a:pPr lvl="1"/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/>
              <a:t>Comparative Analysis</a:t>
            </a:r>
            <a:br>
              <a:rPr lang="en-US" sz="2000" dirty="0"/>
            </a:br>
            <a:r>
              <a:rPr lang="en-US" sz="2000" dirty="0"/>
              <a:t>Comparing two or more variables to find relationships: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Cost for Two vs Rating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Online Order vs Table Booking availability</a:t>
            </a:r>
          </a:p>
          <a:p>
            <a:pPr lvl="1"/>
            <a:endParaRPr lang="en-US" sz="2000" dirty="0"/>
          </a:p>
          <a:p>
            <a:pPr>
              <a:buFont typeface="+mj-lt"/>
              <a:buAutoNum type="arabicPeriod"/>
            </a:pPr>
            <a:r>
              <a:rPr lang="en-US" sz="2000" b="1" dirty="0"/>
              <a:t>Categorical Insights &amp; Ranking</a:t>
            </a:r>
            <a:br>
              <a:rPr lang="en-US" sz="2000" dirty="0"/>
            </a:br>
            <a:r>
              <a:rPr lang="en-US" sz="2000" dirty="0"/>
              <a:t>Identifying top trends and categories: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Top 10 Areas with Most Restaurants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Top 10 Cuisines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Top 10 Restaurant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240E5-7181-458F-94EA-E077F4598F2F}"/>
              </a:ext>
            </a:extLst>
          </p:cNvPr>
          <p:cNvSpPr txBox="1"/>
          <p:nvPr/>
        </p:nvSpPr>
        <p:spPr>
          <a:xfrm>
            <a:off x="1497493" y="251792"/>
            <a:ext cx="9687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6600"/>
                </a:solidFill>
                <a:latin typeface="Century" panose="02040604050505020304" pitchFamily="18" charset="0"/>
              </a:rPr>
              <a:t>Types of Data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1072BE-DC3F-419E-80D1-2369A1D550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5" b="4870"/>
          <a:stretch/>
        </p:blipFill>
        <p:spPr>
          <a:xfrm>
            <a:off x="6771862" y="2080592"/>
            <a:ext cx="5224666" cy="477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0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0472AE-C389-4ED9-A30A-7395742801A5}"/>
              </a:ext>
            </a:extLst>
          </p:cNvPr>
          <p:cNvSpPr txBox="1"/>
          <p:nvPr/>
        </p:nvSpPr>
        <p:spPr>
          <a:xfrm>
            <a:off x="755374" y="1868557"/>
            <a:ext cx="787179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Python </a:t>
            </a:r>
            <a:r>
              <a:rPr lang="en-US" sz="2000" dirty="0"/>
              <a:t>– Core programming language used for data analysis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Pandas</a:t>
            </a:r>
            <a:r>
              <a:rPr lang="en-US" sz="2000" dirty="0"/>
              <a:t> – For data loading, cleaning, and manipulation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NumPy</a:t>
            </a:r>
            <a:r>
              <a:rPr lang="en-US" sz="2000" dirty="0"/>
              <a:t> – For numerical operations and data handling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Matplotlib</a:t>
            </a:r>
            <a:r>
              <a:rPr lang="en-US" sz="2000" dirty="0"/>
              <a:t> – For creating basic visualizations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Seaborn</a:t>
            </a:r>
            <a:r>
              <a:rPr lang="en-US" sz="2000" dirty="0"/>
              <a:t> – For advanced and attractive statistical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Google Collab</a:t>
            </a:r>
            <a:r>
              <a:rPr lang="en-US" sz="2000" dirty="0"/>
              <a:t> – For interactive code development and visualization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63311B-A50C-4B47-802A-FEB5EDAB8CFD}"/>
              </a:ext>
            </a:extLst>
          </p:cNvPr>
          <p:cNvSpPr txBox="1"/>
          <p:nvPr/>
        </p:nvSpPr>
        <p:spPr>
          <a:xfrm>
            <a:off x="3717235" y="803682"/>
            <a:ext cx="47575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6600"/>
                </a:solidFill>
                <a:latin typeface="Century" panose="02040604050505020304" pitchFamily="18" charset="0"/>
              </a:rPr>
              <a:t>Tools used</a:t>
            </a:r>
            <a:endParaRPr lang="en-US" sz="4000" b="1" dirty="0">
              <a:solidFill>
                <a:srgbClr val="FF66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907E3A-42B4-4821-AA22-AF2D009FD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313" y="690698"/>
            <a:ext cx="3870730" cy="427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22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18B4A-5845-4C00-9A56-270AE807C838}"/>
              </a:ext>
            </a:extLst>
          </p:cNvPr>
          <p:cNvSpPr txBox="1"/>
          <p:nvPr/>
        </p:nvSpPr>
        <p:spPr>
          <a:xfrm>
            <a:off x="914398" y="1410252"/>
            <a:ext cx="703690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Collection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Cleaning &amp; Preparation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Exploratory Data Analysis (EDA)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Visualization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Insight Generation</a:t>
            </a:r>
            <a:endParaRPr lang="en-US" sz="2000" dirty="0"/>
          </a:p>
          <a:p>
            <a:pPr lvl="1"/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Conclusion &amp; Recommendations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6103A-0710-497E-B15A-59BBB36803B0}"/>
              </a:ext>
            </a:extLst>
          </p:cNvPr>
          <p:cNvSpPr txBox="1"/>
          <p:nvPr/>
        </p:nvSpPr>
        <p:spPr>
          <a:xfrm flipH="1">
            <a:off x="4078025" y="371062"/>
            <a:ext cx="4035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6600"/>
                </a:solidFill>
                <a:latin typeface="Century" panose="02040604050505020304" pitchFamily="18" charset="0"/>
              </a:rPr>
              <a:t>Workflow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3C7A37-B170-4930-A481-73E08368F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906" y="1410252"/>
            <a:ext cx="5002696" cy="500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8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19A8101-7191-4E1F-BA40-D879091FBA43}"/>
              </a:ext>
            </a:extLst>
          </p:cNvPr>
          <p:cNvGrpSpPr/>
          <p:nvPr/>
        </p:nvGrpSpPr>
        <p:grpSpPr>
          <a:xfrm>
            <a:off x="1233833" y="2082625"/>
            <a:ext cx="5221357" cy="1621735"/>
            <a:chOff x="3366050" y="2618133"/>
            <a:chExt cx="5221357" cy="162173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82EDBC2-2CC9-485A-B335-5451C5A9837D}"/>
                </a:ext>
              </a:extLst>
            </p:cNvPr>
            <p:cNvSpPr txBox="1"/>
            <p:nvPr/>
          </p:nvSpPr>
          <p:spPr>
            <a:xfrm>
              <a:off x="3458817" y="2618133"/>
              <a:ext cx="450573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latin typeface="Century" panose="02040604050505020304" pitchFamily="18" charset="0"/>
                </a:rPr>
                <a:t>Let’s Get into the 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65B539F-4CF9-479C-A98F-CC273B77F886}"/>
                </a:ext>
              </a:extLst>
            </p:cNvPr>
            <p:cNvSpPr txBox="1"/>
            <p:nvPr/>
          </p:nvSpPr>
          <p:spPr>
            <a:xfrm>
              <a:off x="3366050" y="3531982"/>
              <a:ext cx="52213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rgbClr val="FF6600"/>
                  </a:solidFill>
                  <a:latin typeface="Century" panose="02040604050505020304" pitchFamily="18" charset="0"/>
                </a:rPr>
                <a:t>Business Problems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08F903F-9538-445D-9E15-D041D46A9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5190" y="1432827"/>
            <a:ext cx="5076964" cy="50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46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E69326-BDAB-4B4D-A27C-A764F0473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74CD6C-0F01-41CD-918D-72F83435C769}"/>
              </a:ext>
            </a:extLst>
          </p:cNvPr>
          <p:cNvSpPr txBox="1"/>
          <p:nvPr/>
        </p:nvSpPr>
        <p:spPr>
          <a:xfrm>
            <a:off x="312906" y="413266"/>
            <a:ext cx="6625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1.Distribution of Restaurant Rating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7DB9C7-665F-45AA-B0EC-9694EF101B37}"/>
              </a:ext>
            </a:extLst>
          </p:cNvPr>
          <p:cNvSpPr txBox="1"/>
          <p:nvPr/>
        </p:nvSpPr>
        <p:spPr>
          <a:xfrm>
            <a:off x="503582" y="955422"/>
            <a:ext cx="11184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Most restaurants have ratings clustered between 3.5 and 4.5, indicating generally positive customer experiences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3A19B-D288-4703-9B85-A24A2C5EB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618" y="2686879"/>
            <a:ext cx="5847196" cy="3898131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0BC8D0-B0AA-4B3D-8DB4-BDB572016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87280"/>
              </p:ext>
            </p:extLst>
          </p:nvPr>
        </p:nvGraphicFramePr>
        <p:xfrm>
          <a:off x="503582" y="2198204"/>
          <a:ext cx="2226366" cy="1931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6366">
                  <a:extLst>
                    <a:ext uri="{9D8B030D-6E8A-4147-A177-3AD203B41FA5}">
                      <a16:colId xmlns:a16="http://schemas.microsoft.com/office/drawing/2014/main" val="311797777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Rate (out of 5)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8390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4189953"/>
                  </a:ext>
                </a:extLst>
              </a:tr>
              <a:tr h="2170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5495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2235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764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2766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664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8558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2.8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0074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3.2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8104"/>
                  </a:ext>
                </a:extLst>
              </a:tr>
            </a:tbl>
          </a:graphicData>
        </a:graphic>
      </p:graphicFrame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0E6AEBD5-926A-4FEE-8840-62F2E820DED4}"/>
              </a:ext>
            </a:extLst>
          </p:cNvPr>
          <p:cNvCxnSpPr>
            <a:cxnSpLocks/>
          </p:cNvCxnSpPr>
          <p:nvPr/>
        </p:nvCxnSpPr>
        <p:spPr>
          <a:xfrm>
            <a:off x="1659988" y="4262511"/>
            <a:ext cx="1645920" cy="492369"/>
          </a:xfrm>
          <a:prstGeom prst="curvedConnector3">
            <a:avLst>
              <a:gd name="adj1" fmla="val -5556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DE8CB4-E138-482B-9DD8-B7BB8827DAA7}"/>
              </a:ext>
            </a:extLst>
          </p:cNvPr>
          <p:cNvSpPr txBox="1"/>
          <p:nvPr/>
        </p:nvSpPr>
        <p:spPr>
          <a:xfrm>
            <a:off x="344556" y="328855"/>
            <a:ext cx="792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2.Distribution of Average Cost for Two People:</a:t>
            </a:r>
            <a:endParaRPr lang="en-US" sz="2400" b="1" dirty="0">
              <a:solidFill>
                <a:srgbClr val="FF66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675ACA-FA31-4177-A878-0EB487B91942}"/>
              </a:ext>
            </a:extLst>
          </p:cNvPr>
          <p:cNvSpPr txBox="1"/>
          <p:nvPr/>
        </p:nvSpPr>
        <p:spPr>
          <a:xfrm>
            <a:off x="556593" y="790520"/>
            <a:ext cx="112908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average cost for two is most commonly in the lower price range, suggesting that affordable dining options are more prevalent</a:t>
            </a:r>
            <a:r>
              <a:rPr lang="en-US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421186-55B5-43DD-9850-155C99DFB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870" y="2280633"/>
            <a:ext cx="6702111" cy="415700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F371040-D3BE-47BD-83E8-D1C4266BE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581082"/>
              </p:ext>
            </p:extLst>
          </p:nvPr>
        </p:nvGraphicFramePr>
        <p:xfrm>
          <a:off x="416222" y="1876046"/>
          <a:ext cx="2949829" cy="1538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49829">
                  <a:extLst>
                    <a:ext uri="{9D8B030D-6E8A-4147-A177-3AD203B41FA5}">
                      <a16:colId xmlns:a16="http://schemas.microsoft.com/office/drawing/2014/main" val="1739880672"/>
                    </a:ext>
                  </a:extLst>
                </a:gridCol>
              </a:tblGrid>
              <a:tr h="2045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Avg cost (two people)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8290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7545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8316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400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8869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550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7328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2664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0239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700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30557"/>
                  </a:ext>
                </a:extLst>
              </a:tr>
            </a:tbl>
          </a:graphicData>
        </a:graphic>
      </p:graphicFrame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DD39F1EB-0212-470A-8003-06849DE8AF14}"/>
              </a:ext>
            </a:extLst>
          </p:cNvPr>
          <p:cNvCxnSpPr>
            <a:cxnSpLocks/>
          </p:cNvCxnSpPr>
          <p:nvPr/>
        </p:nvCxnSpPr>
        <p:spPr>
          <a:xfrm>
            <a:off x="1901019" y="3443909"/>
            <a:ext cx="1292347" cy="579451"/>
          </a:xfrm>
          <a:prstGeom prst="curvedConnector3">
            <a:avLst>
              <a:gd name="adj1" fmla="val -10958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693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8DC2E8-0C35-4410-A478-83DC0F412D6A}"/>
              </a:ext>
            </a:extLst>
          </p:cNvPr>
          <p:cNvSpPr txBox="1"/>
          <p:nvPr/>
        </p:nvSpPr>
        <p:spPr>
          <a:xfrm>
            <a:off x="384312" y="33847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3.Table Booking Availability :</a:t>
            </a:r>
            <a:endParaRPr lang="en-US" sz="2400" b="1" dirty="0">
              <a:solidFill>
                <a:srgbClr val="FF66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B46C0-F860-478A-901A-9DB3DC262D7F}"/>
              </a:ext>
            </a:extLst>
          </p:cNvPr>
          <p:cNvSpPr txBox="1"/>
          <p:nvPr/>
        </p:nvSpPr>
        <p:spPr>
          <a:xfrm>
            <a:off x="543339" y="800136"/>
            <a:ext cx="111053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majority of restaurants do not offer table booking, indicating that walk-in service is more common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F91343-52A3-4648-ABCC-778D8722C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65" y="2517913"/>
            <a:ext cx="5816069" cy="416341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6E3A066-2078-464B-BD25-B858BB9461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851105"/>
              </p:ext>
            </p:extLst>
          </p:nvPr>
        </p:nvGraphicFramePr>
        <p:xfrm>
          <a:off x="831022" y="1905000"/>
          <a:ext cx="20447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4700">
                  <a:extLst>
                    <a:ext uri="{9D8B030D-6E8A-4147-A177-3AD203B41FA5}">
                      <a16:colId xmlns:a16="http://schemas.microsoft.com/office/drawing/2014/main" val="321012047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Table booking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1112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8317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953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1692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814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77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8265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078697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E44C20A1-F8D9-4792-8A22-D7EC58DD1654}"/>
              </a:ext>
            </a:extLst>
          </p:cNvPr>
          <p:cNvCxnSpPr>
            <a:cxnSpLocks/>
          </p:cNvCxnSpPr>
          <p:nvPr/>
        </p:nvCxnSpPr>
        <p:spPr>
          <a:xfrm>
            <a:off x="1913206" y="3573194"/>
            <a:ext cx="1139486" cy="759658"/>
          </a:xfrm>
          <a:prstGeom prst="curvedConnector3">
            <a:avLst>
              <a:gd name="adj1" fmla="val -10494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470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FACBB0-42F6-4AE1-B1E4-93553FC1BA59}"/>
              </a:ext>
            </a:extLst>
          </p:cNvPr>
          <p:cNvSpPr txBox="1"/>
          <p:nvPr/>
        </p:nvSpPr>
        <p:spPr>
          <a:xfrm>
            <a:off x="530087" y="3586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4.Online Order Availability :</a:t>
            </a:r>
            <a:endParaRPr lang="en-US" sz="2400" b="1" dirty="0">
              <a:solidFill>
                <a:srgbClr val="FF66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E24C85-E18F-4C3D-951A-1B039D7DEBE5}"/>
              </a:ext>
            </a:extLst>
          </p:cNvPr>
          <p:cNvSpPr txBox="1"/>
          <p:nvPr/>
        </p:nvSpPr>
        <p:spPr>
          <a:xfrm>
            <a:off x="662609" y="820338"/>
            <a:ext cx="106282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Most restaurants support online ordering, reflecting a strong shift toward digital convenience in food services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45D28D-6711-4D77-95A1-A602CC4F0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749" y="2557670"/>
            <a:ext cx="5506284" cy="3941657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FAA461-0D30-49D7-AB3F-03733F758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401856"/>
              </p:ext>
            </p:extLst>
          </p:nvPr>
        </p:nvGraphicFramePr>
        <p:xfrm>
          <a:off x="662609" y="1918335"/>
          <a:ext cx="2080591" cy="15106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0591">
                  <a:extLst>
                    <a:ext uri="{9D8B030D-6E8A-4147-A177-3AD203B41FA5}">
                      <a16:colId xmlns:a16="http://schemas.microsoft.com/office/drawing/2014/main" val="2317353001"/>
                    </a:ext>
                  </a:extLst>
                </a:gridCol>
              </a:tblGrid>
              <a:tr h="8117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Online  order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4053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604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374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6213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8617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6711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2134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64173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39CD8BA8-D8AD-4282-959C-5DF3495D7379}"/>
              </a:ext>
            </a:extLst>
          </p:cNvPr>
          <p:cNvCxnSpPr>
            <a:cxnSpLocks/>
          </p:cNvCxnSpPr>
          <p:nvPr/>
        </p:nvCxnSpPr>
        <p:spPr>
          <a:xfrm>
            <a:off x="1814732" y="3573194"/>
            <a:ext cx="1069145" cy="506437"/>
          </a:xfrm>
          <a:prstGeom prst="curvedConnector3">
            <a:avLst>
              <a:gd name="adj1" fmla="val -13158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27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96A342C-F8A1-46AF-92E6-7936132BD3D5}"/>
              </a:ext>
            </a:extLst>
          </p:cNvPr>
          <p:cNvSpPr txBox="1"/>
          <p:nvPr/>
        </p:nvSpPr>
        <p:spPr>
          <a:xfrm>
            <a:off x="490330" y="36307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5.Cost for Two People vs Rating :</a:t>
            </a:r>
            <a:endParaRPr lang="en-US" sz="2400" b="1" dirty="0">
              <a:solidFill>
                <a:srgbClr val="FF66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9061E9-A1D9-4ADC-9ED8-93C697BA2EA6}"/>
              </a:ext>
            </a:extLst>
          </p:cNvPr>
          <p:cNvSpPr txBox="1"/>
          <p:nvPr/>
        </p:nvSpPr>
        <p:spPr>
          <a:xfrm>
            <a:off x="609599" y="822761"/>
            <a:ext cx="111980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There is no strong correlation between cost for two and rating, indicating that higher prices do not necessarily guarantee better customer satisfaction.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49E5F-AA72-4EEE-B4BC-2455FB581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574" y="2167030"/>
            <a:ext cx="5690423" cy="450457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9E1270-BFAB-4893-94B0-BA41770C57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022483"/>
              </p:ext>
            </p:extLst>
          </p:nvPr>
        </p:nvGraphicFramePr>
        <p:xfrm>
          <a:off x="397564" y="1847850"/>
          <a:ext cx="4346712" cy="15811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8904">
                  <a:extLst>
                    <a:ext uri="{9D8B030D-6E8A-4147-A177-3AD203B41FA5}">
                      <a16:colId xmlns:a16="http://schemas.microsoft.com/office/drawing/2014/main" val="3964278111"/>
                    </a:ext>
                  </a:extLst>
                </a:gridCol>
                <a:gridCol w="1448904">
                  <a:extLst>
                    <a:ext uri="{9D8B030D-6E8A-4147-A177-3AD203B41FA5}">
                      <a16:colId xmlns:a16="http://schemas.microsoft.com/office/drawing/2014/main" val="156584915"/>
                    </a:ext>
                  </a:extLst>
                </a:gridCol>
                <a:gridCol w="1448904">
                  <a:extLst>
                    <a:ext uri="{9D8B030D-6E8A-4147-A177-3AD203B41FA5}">
                      <a16:colId xmlns:a16="http://schemas.microsoft.com/office/drawing/2014/main" val="2095658149"/>
                    </a:ext>
                  </a:extLst>
                </a:gridCol>
              </a:tblGrid>
              <a:tr h="225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Rate (out of 5)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Avg cost (two people)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Online_order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87734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No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970475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156231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122455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550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347972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2.8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700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Yes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321939"/>
                  </a:ext>
                </a:extLst>
              </a:tr>
              <a:tr h="22587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No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603949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5A921E04-7135-4FAC-8F13-17DB10BA76BF}"/>
              </a:ext>
            </a:extLst>
          </p:cNvPr>
          <p:cNvCxnSpPr>
            <a:cxnSpLocks/>
          </p:cNvCxnSpPr>
          <p:nvPr/>
        </p:nvCxnSpPr>
        <p:spPr>
          <a:xfrm>
            <a:off x="2686929" y="3545058"/>
            <a:ext cx="2057347" cy="731520"/>
          </a:xfrm>
          <a:prstGeom prst="curvedConnector3">
            <a:avLst>
              <a:gd name="adj1" fmla="val -3335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748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AFE610-F5CB-4BF9-926C-A009CEA4B6A2}"/>
              </a:ext>
            </a:extLst>
          </p:cNvPr>
          <p:cNvSpPr txBox="1"/>
          <p:nvPr/>
        </p:nvSpPr>
        <p:spPr>
          <a:xfrm>
            <a:off x="490331" y="42162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6.Top 10 Cuisines :</a:t>
            </a:r>
            <a:endParaRPr lang="en-US" sz="2400" b="1" dirty="0">
              <a:solidFill>
                <a:srgbClr val="FF66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4CBD3-4BBE-4EEB-9A10-9C63E4970813}"/>
              </a:ext>
            </a:extLst>
          </p:cNvPr>
          <p:cNvSpPr txBox="1"/>
          <p:nvPr/>
        </p:nvSpPr>
        <p:spPr>
          <a:xfrm>
            <a:off x="583097" y="883286"/>
            <a:ext cx="112908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North Indian and Chinese cuisines are the most popular, dominating the top 10 list and reflecting strong customer preferences for these food types.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EECB67-17C7-4E23-96FC-7AF89FD5B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799" y="2052837"/>
            <a:ext cx="7729935" cy="4641355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7465980-F049-45E5-82F0-1121AD51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701841"/>
              </p:ext>
            </p:extLst>
          </p:nvPr>
        </p:nvGraphicFramePr>
        <p:xfrm>
          <a:off x="172279" y="1723694"/>
          <a:ext cx="3366052" cy="1591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6052">
                  <a:extLst>
                    <a:ext uri="{9D8B030D-6E8A-4147-A177-3AD203B41FA5}">
                      <a16:colId xmlns:a16="http://schemas.microsoft.com/office/drawing/2014/main" val="2432752535"/>
                    </a:ext>
                  </a:extLst>
                </a:gridCol>
              </a:tblGrid>
              <a:tr h="2273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Cuisines type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309084"/>
                  </a:ext>
                </a:extLst>
              </a:tr>
              <a:tr h="2273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Fast Food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90399"/>
                  </a:ext>
                </a:extLst>
              </a:tr>
              <a:tr h="2273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Fast Food, Beverages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485279"/>
                  </a:ext>
                </a:extLst>
              </a:tr>
              <a:tr h="2273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Cafe, Beverages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142108"/>
                  </a:ext>
                </a:extLst>
              </a:tr>
              <a:tr h="2273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Biryani, Mughlai, Chinese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550666"/>
                  </a:ext>
                </a:extLst>
              </a:tr>
              <a:tr h="2273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BBQ, Continental, North Indian, Chinese, Beverages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498131"/>
                  </a:ext>
                </a:extLst>
              </a:tr>
              <a:tr h="2273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Mughlai, Biryani, Chinese, North Indian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755367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5B03297-5931-42B2-A528-C98348D73894}"/>
              </a:ext>
            </a:extLst>
          </p:cNvPr>
          <p:cNvCxnSpPr>
            <a:cxnSpLocks/>
          </p:cNvCxnSpPr>
          <p:nvPr/>
        </p:nvCxnSpPr>
        <p:spPr>
          <a:xfrm>
            <a:off x="1378634" y="3429000"/>
            <a:ext cx="1702191" cy="791308"/>
          </a:xfrm>
          <a:prstGeom prst="curvedConnector3">
            <a:avLst>
              <a:gd name="adj1" fmla="val 2893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391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737E1D-D940-4DCF-949D-3281DAA010E9}"/>
              </a:ext>
            </a:extLst>
          </p:cNvPr>
          <p:cNvSpPr txBox="1"/>
          <p:nvPr/>
        </p:nvSpPr>
        <p:spPr>
          <a:xfrm>
            <a:off x="304800" y="31891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7</a:t>
            </a:r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.</a:t>
            </a:r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Top 10 Areas with Most Restaurants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59C32-9CD8-481A-BCCB-88F03E267DEB}"/>
              </a:ext>
            </a:extLst>
          </p:cNvPr>
          <p:cNvSpPr txBox="1"/>
          <p:nvPr/>
        </p:nvSpPr>
        <p:spPr>
          <a:xfrm>
            <a:off x="490330" y="780582"/>
            <a:ext cx="112113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top 10 areas with the most restaurants highlight key food hubs, indicating high customer demand and competitive dining markets in those locations.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EAE522-A753-4FA7-ABF7-CAC0230A8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463029"/>
            <a:ext cx="7768500" cy="539497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91648A-42FD-4B55-A1BA-D22855185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825290"/>
              </p:ext>
            </p:extLst>
          </p:nvPr>
        </p:nvGraphicFramePr>
        <p:xfrm>
          <a:off x="490330" y="1950133"/>
          <a:ext cx="2663687" cy="16809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3687">
                  <a:extLst>
                    <a:ext uri="{9D8B030D-6E8A-4147-A177-3AD203B41FA5}">
                      <a16:colId xmlns:a16="http://schemas.microsoft.com/office/drawing/2014/main" val="1503056679"/>
                    </a:ext>
                  </a:extLst>
                </a:gridCol>
              </a:tblGrid>
              <a:tr h="2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Area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035455"/>
                  </a:ext>
                </a:extLst>
              </a:tr>
              <a:tr h="2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Bellandur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15708"/>
                  </a:ext>
                </a:extLst>
              </a:tr>
              <a:tr h="2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err="1">
                          <a:effectLst/>
                        </a:rPr>
                        <a:t>Byresandra,Tavarekere,Madiwala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830102"/>
                  </a:ext>
                </a:extLst>
              </a:tr>
              <a:tr h="2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Bannerghatta Road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044933"/>
                  </a:ext>
                </a:extLst>
              </a:tr>
              <a:tr h="2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Marathahalli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219867"/>
                  </a:ext>
                </a:extLst>
              </a:tr>
              <a:tr h="2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Bellandur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843199"/>
                  </a:ext>
                </a:extLst>
              </a:tr>
              <a:tr h="2401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Whitefield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39754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F4C57842-13C4-4CD2-B1F5-C8CBC6516317}"/>
              </a:ext>
            </a:extLst>
          </p:cNvPr>
          <p:cNvCxnSpPr>
            <a:cxnSpLocks/>
          </p:cNvCxnSpPr>
          <p:nvPr/>
        </p:nvCxnSpPr>
        <p:spPr>
          <a:xfrm>
            <a:off x="1659988" y="3798277"/>
            <a:ext cx="1364566" cy="576775"/>
          </a:xfrm>
          <a:prstGeom prst="curvedConnector3">
            <a:avLst>
              <a:gd name="adj1" fmla="val 50000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907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BC56FE-F350-4F35-BFFC-D1E1388C7DC3}"/>
              </a:ext>
            </a:extLst>
          </p:cNvPr>
          <p:cNvSpPr txBox="1"/>
          <p:nvPr/>
        </p:nvSpPr>
        <p:spPr>
          <a:xfrm>
            <a:off x="397565" y="3686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8.Top 10 Restaurant Types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8B2DC6-B931-41D9-BE57-13B18BBE7F85}"/>
              </a:ext>
            </a:extLst>
          </p:cNvPr>
          <p:cNvSpPr txBox="1"/>
          <p:nvPr/>
        </p:nvSpPr>
        <p:spPr>
          <a:xfrm>
            <a:off x="556591" y="830277"/>
            <a:ext cx="110788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Quick Bites and Casual Dining are the most common restaurant types, showing a strong preference for informal and fast dining experiences.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BD926E-1464-44F4-8033-B26C7ABAD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869" y="1768863"/>
            <a:ext cx="8223646" cy="490096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6DEB611-646F-47CD-9F61-5400D19F3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423302"/>
              </p:ext>
            </p:extLst>
          </p:nvPr>
        </p:nvGraphicFramePr>
        <p:xfrm>
          <a:off x="397565" y="1768863"/>
          <a:ext cx="1879600" cy="1459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2316206130"/>
                    </a:ext>
                  </a:extLst>
                </a:gridCol>
              </a:tblGrid>
              <a:tr h="208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Restaurant type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973293"/>
                  </a:ext>
                </a:extLst>
              </a:tr>
              <a:tr h="208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Quick Bites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880158"/>
                  </a:ext>
                </a:extLst>
              </a:tr>
              <a:tr h="208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Quick Bites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431107"/>
                  </a:ext>
                </a:extLst>
              </a:tr>
              <a:tr h="208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Cafe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522592"/>
                  </a:ext>
                </a:extLst>
              </a:tr>
              <a:tr h="208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Casual Dining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838127"/>
                  </a:ext>
                </a:extLst>
              </a:tr>
              <a:tr h="208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Casual Dining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781301"/>
                  </a:ext>
                </a:extLst>
              </a:tr>
              <a:tr h="208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Takeaway, Delivery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194061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24BB7C91-9891-4E7E-B04E-3820FB5352A7}"/>
              </a:ext>
            </a:extLst>
          </p:cNvPr>
          <p:cNvCxnSpPr>
            <a:cxnSpLocks/>
          </p:cNvCxnSpPr>
          <p:nvPr/>
        </p:nvCxnSpPr>
        <p:spPr>
          <a:xfrm>
            <a:off x="1041009" y="3270739"/>
            <a:ext cx="984739" cy="538089"/>
          </a:xfrm>
          <a:prstGeom prst="curvedConnector3">
            <a:avLst>
              <a:gd name="adj1" fmla="val -4286"/>
            </a:avLst>
          </a:prstGeom>
          <a:ln>
            <a:tailEnd type="triangle"/>
          </a:ln>
          <a:effectLst>
            <a:outerShdw blurRad="50800" dist="38100" dir="2700000" sx="64000" sy="64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26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76FA7F-671F-4B3B-95B9-5F137508AE98}"/>
              </a:ext>
            </a:extLst>
          </p:cNvPr>
          <p:cNvSpPr txBox="1"/>
          <p:nvPr/>
        </p:nvSpPr>
        <p:spPr>
          <a:xfrm>
            <a:off x="702365" y="814941"/>
            <a:ext cx="1078726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Ratings Trend:</a:t>
            </a:r>
            <a:r>
              <a:rPr lang="en-US" dirty="0"/>
              <a:t> Most restaurants have ratings between 3.5 and 4.5, suggesting generally positive customer satisfaction.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Affordability Dominates:</a:t>
            </a:r>
            <a:r>
              <a:rPr lang="en-US" dirty="0"/>
              <a:t> Lower average cost for two is more common, highlighting affordability as a key factor in dining choices.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Booking Preferences:</a:t>
            </a:r>
            <a:r>
              <a:rPr lang="en-US" dirty="0"/>
              <a:t> Table booking is not widely available, indicating that most restaurants rely on walk-ins.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Digital Adoption:</a:t>
            </a:r>
            <a:r>
              <a:rPr lang="en-US" dirty="0"/>
              <a:t> A majority of restaurants offer online ordering, reflecting the growing importance of digital convenience.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 vs Rating:</a:t>
            </a:r>
            <a:r>
              <a:rPr lang="en-US" dirty="0"/>
              <a:t> No strong correlation between cost and rating, showing that expensive meals don't always mean better experiences.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Cuisine Popularity:</a:t>
            </a:r>
            <a:r>
              <a:rPr lang="en-US" dirty="0"/>
              <a:t> North Indian and Chinese top the cuisine list, showing consistent customer demand for these flavors.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Hotspot Areas:</a:t>
            </a:r>
            <a:r>
              <a:rPr lang="en-US" dirty="0"/>
              <a:t> A few key areas dominate in restaurant count, acting as major food and business hubs.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Preferred Dining Styles:</a:t>
            </a:r>
            <a:r>
              <a:rPr lang="en-US" dirty="0"/>
              <a:t> Quick Bites and Casual Dining are the leading restaurant types, suggesting customer preference for fast, informal meals.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A9B625-B882-45CB-86D8-83F984C08836}"/>
              </a:ext>
            </a:extLst>
          </p:cNvPr>
          <p:cNvSpPr txBox="1"/>
          <p:nvPr/>
        </p:nvSpPr>
        <p:spPr>
          <a:xfrm>
            <a:off x="3048000" y="2335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Top Key Insights</a:t>
            </a:r>
            <a:endParaRPr lang="en-US" sz="2400" b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285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A39ECBA9-119C-4219-ABDD-FA19E9B07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116" y="592178"/>
            <a:ext cx="11159767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 Online Ordering Experience: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Since most customers prefer online ordering, invest in optimizing your online menu, delivery speed, and app usability.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Offer Affordable Combos: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lower-cost meals being more popular, create value-for-money combos to attract budget-conscious diners.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Introduce Table Booking Option: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Adding table booking could improve customer convenience and reduce walk-in congestion, especially in high-traffic areas.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 on High-Demand Cuisines: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Expand or refine offerings in popular cuisines like North Indian and Chinese to match customer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 Food-Dense Areas: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Open or expand outlets in top-performing areas to capitalize on high foot traffic and established customer bases.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Promote Quick and Casual Dining: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Tailor your services to match the demand for quick bites and casual dining — e.g., faster service, grab-and-go options.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Monitor Ratings Closely: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Since ratings aren’t tied to cost, focus on food quality, service, and ambiance to boost customer satisfaction regardless of pricing.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87D512A-FD38-4CDB-9F1C-7C33DA7E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AA7A3F8-6E9D-42E6-897B-43A820A81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76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AE6930-4AB5-4ADE-A020-3826A9BC401C}"/>
              </a:ext>
            </a:extLst>
          </p:cNvPr>
          <p:cNvSpPr txBox="1"/>
          <p:nvPr/>
        </p:nvSpPr>
        <p:spPr>
          <a:xfrm>
            <a:off x="3558209" y="284539"/>
            <a:ext cx="5075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6600"/>
                </a:solidFill>
                <a:latin typeface="Century" panose="02040604050505020304" pitchFamily="18" charset="0"/>
              </a:rPr>
              <a:t>Actionable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340736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214585-C39F-489C-B8B1-4423895DF04C}"/>
              </a:ext>
            </a:extLst>
          </p:cNvPr>
          <p:cNvSpPr txBox="1"/>
          <p:nvPr/>
        </p:nvSpPr>
        <p:spPr>
          <a:xfrm>
            <a:off x="3048000" y="324433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6600"/>
                </a:solidFill>
                <a:latin typeface="Century" panose="02040604050505020304" pitchFamily="18" charset="0"/>
              </a:rPr>
              <a:t>Thank You</a:t>
            </a:r>
            <a:endParaRPr lang="en-US" sz="4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CEA298-7731-41BD-BA74-B1D1E932F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869" y="1152938"/>
            <a:ext cx="5400261" cy="540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46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</TotalTime>
  <Words>932</Words>
  <Application>Microsoft Office PowerPoint</Application>
  <PresentationFormat>Widescreen</PresentationFormat>
  <Paragraphs>179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MS UI Gothic</vt:lpstr>
      <vt:lpstr>Algerian</vt:lpstr>
      <vt:lpstr>Arial</vt:lpstr>
      <vt:lpstr>Calibri</vt:lpstr>
      <vt:lpstr>Calibri Light</vt:lpstr>
      <vt:lpstr>Century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29</cp:revision>
  <cp:lastPrinted>2025-05-02T14:57:29Z</cp:lastPrinted>
  <dcterms:created xsi:type="dcterms:W3CDTF">2025-05-02T08:41:12Z</dcterms:created>
  <dcterms:modified xsi:type="dcterms:W3CDTF">2025-05-02T15:00:04Z</dcterms:modified>
</cp:coreProperties>
</file>